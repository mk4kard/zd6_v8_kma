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9" d="100"/>
          <a:sy n="89" d="100"/>
        </p:scale>
        <p:origin x="6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1E8B62-6496-49C6-943B-FE3B0660A9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Разработка и создание программы для производства мебели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D0C47BE-1CEB-4E7B-9FC1-29C05B1CAE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Работу выполнил: Кардашин М. А.</a:t>
            </a:r>
          </a:p>
          <a:p>
            <a:r>
              <a:rPr lang="ru-RU" dirty="0"/>
              <a:t>Руководитель: Мирошниченко Г. В.</a:t>
            </a:r>
          </a:p>
          <a:p>
            <a:r>
              <a:rPr lang="ru-RU" dirty="0"/>
              <a:t>Группа: ПР-31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9775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3AA13E-D5AB-415D-A3AF-F6EA62A64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 разработке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14613F-93BD-4C5F-8792-DEE7347CC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Программа предназначена для  предоставлении информации для клиентов, поставщиков и производителей мебели. Продукт позволяет увидеть номера производителей, клиентов, возможных товаров и т. д.</a:t>
            </a:r>
          </a:p>
          <a:p>
            <a:r>
              <a:rPr lang="ru-RU" dirty="0"/>
              <a:t>Данная разработка - это программный комплекс, предназначенный для создания базы данных производства мебели.</a:t>
            </a:r>
          </a:p>
        </p:txBody>
      </p:sp>
    </p:spTree>
    <p:extLst>
      <p:ext uri="{BB962C8B-B14F-4D97-AF65-F5344CB8AC3E}">
        <p14:creationId xmlns:p14="http://schemas.microsoft.com/office/powerpoint/2010/main" val="1203585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490D58-1A36-4B1A-95D8-D4C625F11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B50652-530C-41C8-920F-FCC59184A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17242D"/>
                </a:solidFill>
                <a:latin typeface="HK Grotesk Light Bold"/>
              </a:rPr>
              <a:t>Целью является разработка программы для системы </a:t>
            </a:r>
            <a:r>
              <a:rPr lang="ru-RU" sz="1800" dirty="0">
                <a:solidFill>
                  <a:srgbClr val="17242D"/>
                </a:solidFill>
                <a:latin typeface="HK Grotesk Light Bold"/>
              </a:rPr>
              <a:t>Производства мебели. </a:t>
            </a:r>
            <a:r>
              <a:rPr lang="ru-RU" dirty="0">
                <a:solidFill>
                  <a:srgbClr val="17242D"/>
                </a:solidFill>
                <a:latin typeface="HK Grotesk Light Bold"/>
              </a:rPr>
              <a:t>Создать возможность выкладывать свой продукт для продажи и искать на рынке нужные материалы. Также сделать возможность покупки товаров.</a:t>
            </a:r>
          </a:p>
          <a:p>
            <a:r>
              <a:rPr lang="ru-RU" dirty="0"/>
              <a:t>Изучить актуальную информацию по области данной задачи</a:t>
            </a:r>
          </a:p>
          <a:p>
            <a:r>
              <a:rPr lang="ru-RU" dirty="0"/>
              <a:t>Подобрать средства для разработки программного продукта</a:t>
            </a:r>
          </a:p>
          <a:p>
            <a:r>
              <a:rPr lang="ru-RU" dirty="0"/>
              <a:t>Подобрать наиболее удобный для пользователя дизайн</a:t>
            </a:r>
          </a:p>
          <a:p>
            <a:r>
              <a:rPr lang="ru-RU" dirty="0"/>
              <a:t>Учесть требования к задаче и разработать подобранный интерфейс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0281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A277EF-511A-4AB3-B809-4DEBEAE5E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Функциональные характеристики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7F5283-81D1-4D13-9F39-1F8E4A9D1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pc="300" dirty="0">
                <a:solidFill>
                  <a:schemeClr val="accent1">
                    <a:lumMod val="75000"/>
                  </a:schemeClr>
                </a:solidFill>
              </a:rPr>
              <a:t>ПРИВЛЕКАТЕЛЬНОСТЬ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spc="56" dirty="0">
                <a:solidFill>
                  <a:srgbClr val="17242D"/>
                </a:solidFill>
                <a:latin typeface="HK Grotesk Light"/>
              </a:rPr>
              <a:t>Хороший интерфейс должен быть привлекательным, чтобы доставлять пользователю удовольствие при работе с программным продуктом.</a:t>
            </a:r>
            <a:endParaRPr lang="ru-RU" sz="1800" spc="56" dirty="0">
              <a:solidFill>
                <a:srgbClr val="17242D"/>
              </a:solidFill>
              <a:latin typeface="HK Grotesk Light"/>
            </a:endParaRPr>
          </a:p>
          <a:p>
            <a:r>
              <a:rPr lang="ru-RU" spc="300" dirty="0">
                <a:solidFill>
                  <a:schemeClr val="accent1">
                    <a:lumMod val="75000"/>
                  </a:schemeClr>
                </a:solidFill>
              </a:rPr>
              <a:t>ЛАКОНИЧНОСТЬ И ПРОСТОТА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spc="60" dirty="0">
                <a:solidFill>
                  <a:srgbClr val="17242D"/>
                </a:solidFill>
                <a:latin typeface="HK Grotesk Light"/>
              </a:rPr>
              <a:t>Интерфейс не должен быть перегружен лишней информацией.</a:t>
            </a:r>
          </a:p>
          <a:p>
            <a:r>
              <a:rPr lang="ru-RU" spc="300" dirty="0">
                <a:solidFill>
                  <a:schemeClr val="accent1">
                    <a:lumMod val="75000"/>
                  </a:schemeClr>
                </a:solidFill>
              </a:rPr>
              <a:t>СИСТЕМАТИЗАЦИЯ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spc="60" dirty="0">
                <a:solidFill>
                  <a:srgbClr val="17242D"/>
                </a:solidFill>
                <a:latin typeface="HK Grotesk Light"/>
              </a:rPr>
              <a:t>Упрощения и автоматизации операций, связанных с регистрацией, систематизаций, поиском и обработкой данных о</a:t>
            </a:r>
            <a:r>
              <a:rPr lang="ru-RU" sz="1800" spc="60" dirty="0">
                <a:solidFill>
                  <a:srgbClr val="17242D"/>
                </a:solidFill>
                <a:latin typeface="HK Grotesk Light"/>
              </a:rPr>
              <a:t>б товарах</a:t>
            </a:r>
            <a:endParaRPr lang="en-US" sz="1800" spc="59" dirty="0">
              <a:solidFill>
                <a:srgbClr val="17242D"/>
              </a:solidFill>
              <a:latin typeface="HK Grotesk Light"/>
            </a:endParaRPr>
          </a:p>
          <a:p>
            <a:pPr marL="0" indent="0">
              <a:buNone/>
            </a:pPr>
            <a:endParaRPr lang="en-US" sz="1800" spc="56" dirty="0">
              <a:solidFill>
                <a:srgbClr val="17242D"/>
              </a:solidFill>
              <a:latin typeface="HK Grotesk Light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1183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3B32D8-1F8E-4886-B3AC-F3315913E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Используемые инструменты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38F6BB-35CA-476A-9AF4-5CFD54043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Navigation</a:t>
            </a:r>
          </a:p>
          <a:p>
            <a:r>
              <a:rPr lang="en-US" sz="2400" dirty="0"/>
              <a:t>ROOM</a:t>
            </a:r>
          </a:p>
          <a:p>
            <a:endParaRPr lang="en-US" sz="2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5543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85FA60B-7A44-4EE3-8353-F54A56C81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Главное окно</a:t>
            </a:r>
            <a:br>
              <a:rPr lang="ru-RU" sz="2800" dirty="0"/>
            </a:br>
            <a:r>
              <a:rPr lang="ru-RU" sz="2800" dirty="0"/>
              <a:t>программы</a:t>
            </a:r>
            <a:br>
              <a:rPr lang="ru-RU" dirty="0"/>
            </a:b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3B9BE4B-A44A-458E-A272-29FA7F334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Включает в себя: </a:t>
            </a:r>
          </a:p>
          <a:p>
            <a:r>
              <a:rPr lang="ru-RU" dirty="0"/>
              <a:t>Меню для выбора режима работы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26559C8-01E8-459B-A7E9-78E46747E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931" y="616361"/>
            <a:ext cx="2487453" cy="5527675"/>
          </a:xfrm>
          <a:prstGeom prst="rect">
            <a:avLst/>
          </a:prstGeom>
          <a:ln w="228600" cap="sq" cmpd="thickThin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4D5644E0-14B3-45A3-A5AF-931982B739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38537" y="616361"/>
            <a:ext cx="2487453" cy="5527675"/>
          </a:xfrm>
          <a:prstGeom prst="rect">
            <a:avLst/>
          </a:prstGeom>
          <a:ln w="228600" cap="sq" cmpd="thickThin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81313F9-DFF9-434B-BEF8-542DFC8FC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5990" y="256843"/>
            <a:ext cx="2854941" cy="6344314"/>
          </a:xfrm>
          <a:prstGeom prst="rect">
            <a:avLst/>
          </a:prstGeom>
          <a:ln w="228600" cap="sq" cmpd="thickThin">
            <a:solidFill>
              <a:schemeClr val="accent1">
                <a:lumMod val="50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626857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BEF3B3-6E24-4EC1-9DF6-2169084B3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Просмотр</a:t>
            </a:r>
            <a:br>
              <a:rPr lang="ru-RU" sz="2800" dirty="0"/>
            </a:br>
            <a:r>
              <a:rPr lang="ru-RU" sz="2800" dirty="0"/>
              <a:t>деталей</a:t>
            </a:r>
            <a:br>
              <a:rPr lang="ru-RU" dirty="0"/>
            </a:b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8E94E4BC-641B-428F-9BDA-183F31BC0A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73817" y="514350"/>
            <a:ext cx="2487453" cy="5527675"/>
          </a:xfrm>
          <a:prstGeom prst="rect">
            <a:avLst/>
          </a:prstGeom>
          <a:ln w="228600" cap="sq" cmpd="thickThin">
            <a:solidFill>
              <a:schemeClr val="accent1">
                <a:lumMod val="50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F7699AAE-4A3C-42E2-A739-4193597B42E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Включает в себя: </a:t>
            </a:r>
          </a:p>
          <a:p>
            <a:r>
              <a:rPr lang="ru-RU" dirty="0"/>
              <a:t>Меню с информацией про детали</a:t>
            </a:r>
          </a:p>
        </p:txBody>
      </p:sp>
    </p:spTree>
    <p:extLst>
      <p:ext uri="{BB962C8B-B14F-4D97-AF65-F5344CB8AC3E}">
        <p14:creationId xmlns:p14="http://schemas.microsoft.com/office/powerpoint/2010/main" val="3328093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BEF3B3-6E24-4EC1-9DF6-2169084B3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Просмотр</a:t>
            </a:r>
            <a:br>
              <a:rPr lang="ru-RU" sz="2800" dirty="0"/>
            </a:br>
            <a:r>
              <a:rPr lang="ru-RU" sz="2800" dirty="0"/>
              <a:t>мебели</a:t>
            </a:r>
            <a:br>
              <a:rPr lang="ru-RU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699AAE-4A3C-42E2-A739-4193597B42E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Включает в себя: </a:t>
            </a:r>
          </a:p>
          <a:p>
            <a:r>
              <a:rPr lang="ru-RU" dirty="0"/>
              <a:t>Меню с информацией про мебель и меню с информацией про покупателей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8BB35F2-4B2C-4272-B7BC-FB288D6E9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B842CB5-595C-4F2F-9697-03D08C8D8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782" y="514923"/>
            <a:ext cx="2486897" cy="5526437"/>
          </a:xfrm>
          <a:prstGeom prst="rect">
            <a:avLst/>
          </a:prstGeom>
          <a:ln w="228600" cap="sq" cmpd="thickThin">
            <a:solidFill>
              <a:schemeClr val="accent1">
                <a:lumMod val="50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524834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BEF3B3-6E24-4EC1-9DF6-2169084B3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Просмотр</a:t>
            </a:r>
            <a:br>
              <a:rPr lang="ru-RU" sz="2800" dirty="0"/>
            </a:br>
            <a:r>
              <a:rPr lang="ru-RU" sz="2800" dirty="0"/>
              <a:t>ассортимента</a:t>
            </a:r>
            <a:br>
              <a:rPr lang="ru-RU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699AAE-4A3C-42E2-A739-4193597B42E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Включает в себя: </a:t>
            </a:r>
          </a:p>
          <a:p>
            <a:r>
              <a:rPr lang="ru-RU" dirty="0"/>
              <a:t>Меню с информацией про ассортимент с возможностью группировки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89A2D129-3598-4040-BF45-021092212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094FEAA-7E16-44AB-BE1C-234A4FA4E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6946" y="514924"/>
            <a:ext cx="2480569" cy="5512376"/>
          </a:xfrm>
          <a:prstGeom prst="rect">
            <a:avLst/>
          </a:prstGeom>
          <a:ln w="228600" cap="sq" cmpd="thickThin">
            <a:solidFill>
              <a:schemeClr val="accent1">
                <a:lumMod val="50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732668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505F1F-995E-497B-8674-D841F6E2B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498604"/>
            <a:ext cx="3625725" cy="1278466"/>
          </a:xfrm>
        </p:spPr>
        <p:txBody>
          <a:bodyPr/>
          <a:lstStyle/>
          <a:p>
            <a:r>
              <a:rPr lang="ru-RU" sz="2800" dirty="0"/>
              <a:t>Добавление</a:t>
            </a:r>
            <a:br>
              <a:rPr lang="ru-RU" sz="2800" dirty="0"/>
            </a:br>
            <a:r>
              <a:rPr lang="ru-RU" sz="2800" dirty="0"/>
              <a:t>элементов</a:t>
            </a:r>
            <a:br>
              <a:rPr lang="ru-RU" dirty="0"/>
            </a:b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278430D0-FE75-4C80-95EA-1EE3D72632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45279" y="287164"/>
            <a:ext cx="1850721" cy="4112714"/>
          </a:xfrm>
          <a:prstGeom prst="rect">
            <a:avLst/>
          </a:prstGeom>
          <a:ln w="228600" cap="sq" cmpd="thickThin">
            <a:solidFill>
              <a:schemeClr val="accent1">
                <a:lumMod val="50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77B43B7D-1366-49DF-9BE7-58BACDA746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4" y="2788706"/>
            <a:ext cx="3625725" cy="2584449"/>
          </a:xfrm>
        </p:spPr>
        <p:txBody>
          <a:bodyPr/>
          <a:lstStyle/>
          <a:p>
            <a:r>
              <a:rPr lang="ru-RU" dirty="0"/>
              <a:t>Включает в себя: </a:t>
            </a:r>
          </a:p>
          <a:p>
            <a:r>
              <a:rPr lang="ru-RU" dirty="0"/>
              <a:t>Возможность добавления, удаления и изменения элементов таблиц</a:t>
            </a: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1335BFA-138C-4E21-A8E0-82C925668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3647" y="2343518"/>
            <a:ext cx="1850721" cy="4112714"/>
          </a:xfrm>
          <a:prstGeom prst="rect">
            <a:avLst/>
          </a:prstGeom>
          <a:ln w="228600" cap="sq" cmpd="thickThin">
            <a:solidFill>
              <a:schemeClr val="accent2">
                <a:lumMod val="50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705185A-CC8C-4ABF-8F04-B48AB89373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3946" y="287159"/>
            <a:ext cx="1850720" cy="4112712"/>
          </a:xfrm>
          <a:prstGeom prst="rect">
            <a:avLst/>
          </a:prstGeom>
          <a:ln w="228600" cap="sq" cmpd="thickThin">
            <a:solidFill>
              <a:schemeClr val="accent1">
                <a:lumMod val="50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B2D6AE8-FAF2-4DFB-BCDB-46DAF64B7E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7380" y="2343518"/>
            <a:ext cx="1850720" cy="4112711"/>
          </a:xfrm>
          <a:prstGeom prst="rect">
            <a:avLst/>
          </a:prstGeom>
          <a:ln w="228600" cap="sq" cmpd="thickThin">
            <a:solidFill>
              <a:schemeClr val="accent2">
                <a:lumMod val="50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85AB1DF-B7FA-4FDE-838E-E8FA001B84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4612" y="287157"/>
            <a:ext cx="1850721" cy="4112714"/>
          </a:xfrm>
          <a:prstGeom prst="rect">
            <a:avLst/>
          </a:prstGeom>
          <a:ln w="228600" cap="sq" cmpd="thickThin">
            <a:solidFill>
              <a:schemeClr val="accent1">
                <a:lumMod val="50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354673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AFC3F3-A8C3-4ED9-A843-E454EEE6E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Форма </a:t>
            </a:r>
            <a:br>
              <a:rPr lang="ru-RU" dirty="0"/>
            </a:br>
            <a:r>
              <a:rPr lang="ru-RU" dirty="0"/>
              <a:t>логина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A03433-DBF1-4ECB-BFCB-13310DBF8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733301" cy="3880773"/>
          </a:xfrm>
        </p:spPr>
        <p:txBody>
          <a:bodyPr/>
          <a:lstStyle/>
          <a:p>
            <a:r>
              <a:rPr lang="en-US" sz="1800" dirty="0">
                <a:solidFill>
                  <a:srgbClr val="17242D"/>
                </a:solidFill>
                <a:latin typeface="+mj-lt"/>
              </a:rPr>
              <a:t>Таблица «</a:t>
            </a:r>
            <a:r>
              <a:rPr lang="ru-RU" sz="1800" dirty="0">
                <a:solidFill>
                  <a:srgbClr val="17242D"/>
                </a:solidFill>
                <a:latin typeface="+mj-lt"/>
              </a:rPr>
              <a:t>логины</a:t>
            </a:r>
            <a:r>
              <a:rPr lang="en-US" sz="1800" dirty="0">
                <a:solidFill>
                  <a:srgbClr val="17242D"/>
                </a:solidFill>
                <a:latin typeface="+mj-lt"/>
              </a:rPr>
              <a:t>» - </a:t>
            </a:r>
            <a:r>
              <a:rPr lang="ru-RU" sz="1800" dirty="0">
                <a:solidFill>
                  <a:srgbClr val="17242D"/>
                </a:solidFill>
                <a:latin typeface="+mj-lt"/>
              </a:rPr>
              <a:t>хранит</a:t>
            </a:r>
            <a:r>
              <a:rPr lang="en-US" sz="1800" dirty="0">
                <a:solidFill>
                  <a:srgbClr val="17242D"/>
                </a:solidFill>
                <a:latin typeface="+mj-lt"/>
              </a:rPr>
              <a:t> информацию о </a:t>
            </a:r>
            <a:r>
              <a:rPr lang="ru-RU" sz="1800" dirty="0">
                <a:solidFill>
                  <a:srgbClr val="17242D"/>
                </a:solidFill>
                <a:latin typeface="+mj-lt"/>
              </a:rPr>
              <a:t>пользователях</a:t>
            </a:r>
            <a:r>
              <a:rPr lang="en-US" sz="1800" dirty="0">
                <a:solidFill>
                  <a:srgbClr val="17242D"/>
                </a:solidFill>
                <a:latin typeface="+mj-lt"/>
              </a:rPr>
              <a:t>.</a:t>
            </a:r>
          </a:p>
          <a:p>
            <a:r>
              <a:rPr lang="ru-RU" dirty="0">
                <a:latin typeface="+mj-lt"/>
              </a:rPr>
              <a:t>Хранение номеров пользователей и их типов</a:t>
            </a:r>
          </a:p>
          <a:p>
            <a:endParaRPr lang="ru-RU" dirty="0">
              <a:latin typeface="+mj-lt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FA9F42A-7679-4E84-AB25-A970FB84B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49" y="5056457"/>
            <a:ext cx="11912301" cy="141988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4504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AFC3F3-A8C3-4ED9-A843-E454EEE6E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Форма </a:t>
            </a:r>
            <a:br>
              <a:rPr lang="ru-RU" dirty="0"/>
            </a:br>
            <a:r>
              <a:rPr lang="ru-RU" dirty="0"/>
              <a:t>детали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A03433-DBF1-4ECB-BFCB-13310DBF8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002704" cy="2153227"/>
          </a:xfrm>
        </p:spPr>
        <p:txBody>
          <a:bodyPr/>
          <a:lstStyle/>
          <a:p>
            <a:r>
              <a:rPr lang="en-US" sz="1800" dirty="0">
                <a:solidFill>
                  <a:srgbClr val="17242D"/>
                </a:solidFill>
                <a:latin typeface="+mj-lt"/>
              </a:rPr>
              <a:t>Таблица «</a:t>
            </a:r>
            <a:r>
              <a:rPr lang="ru-RU" sz="1800" dirty="0">
                <a:solidFill>
                  <a:srgbClr val="17242D"/>
                </a:solidFill>
                <a:latin typeface="+mj-lt"/>
              </a:rPr>
              <a:t>детали</a:t>
            </a:r>
            <a:r>
              <a:rPr lang="en-US" sz="1800" dirty="0">
                <a:solidFill>
                  <a:srgbClr val="17242D"/>
                </a:solidFill>
                <a:latin typeface="+mj-lt"/>
              </a:rPr>
              <a:t>» - </a:t>
            </a:r>
            <a:r>
              <a:rPr lang="ru-RU" sz="1800" dirty="0">
                <a:solidFill>
                  <a:srgbClr val="17242D"/>
                </a:solidFill>
                <a:latin typeface="+mj-lt"/>
              </a:rPr>
              <a:t>хранит</a:t>
            </a:r>
            <a:r>
              <a:rPr lang="en-US" sz="1800" dirty="0">
                <a:solidFill>
                  <a:srgbClr val="17242D"/>
                </a:solidFill>
                <a:latin typeface="+mj-lt"/>
              </a:rPr>
              <a:t> информацию о </a:t>
            </a:r>
            <a:r>
              <a:rPr lang="ru-RU" sz="1800" dirty="0">
                <a:solidFill>
                  <a:srgbClr val="17242D"/>
                </a:solidFill>
                <a:latin typeface="+mj-lt"/>
              </a:rPr>
              <a:t>деталях</a:t>
            </a:r>
            <a:r>
              <a:rPr lang="ru-RU" dirty="0">
                <a:solidFill>
                  <a:srgbClr val="17242D"/>
                </a:solidFill>
                <a:latin typeface="+mj-lt"/>
              </a:rPr>
              <a:t>: название детали, характеристики, количество, цена одной единицы. </a:t>
            </a:r>
          </a:p>
          <a:p>
            <a:r>
              <a:rPr lang="ru-RU" dirty="0">
                <a:solidFill>
                  <a:srgbClr val="17242D"/>
                </a:solidFill>
                <a:latin typeface="+mj-lt"/>
              </a:rPr>
              <a:t>Возможны добавления, удаления и изменения</a:t>
            </a:r>
            <a:endParaRPr lang="ru-RU" dirty="0">
              <a:latin typeface="+mj-l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0A7A491-F765-48F0-B18F-C2A47D8D9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06" y="4433905"/>
            <a:ext cx="11940988" cy="9873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1053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AFC3F3-A8C3-4ED9-A843-E454EEE6E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Форма </a:t>
            </a:r>
            <a:br>
              <a:rPr lang="ru-RU" dirty="0"/>
            </a:br>
            <a:r>
              <a:rPr lang="ru-RU" dirty="0"/>
              <a:t>мебели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A03433-DBF1-4ECB-BFCB-13310DBF8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2160589"/>
            <a:ext cx="4669216" cy="3880773"/>
          </a:xfrm>
        </p:spPr>
        <p:txBody>
          <a:bodyPr/>
          <a:lstStyle/>
          <a:p>
            <a:r>
              <a:rPr lang="en-US" sz="1800" dirty="0">
                <a:solidFill>
                  <a:srgbClr val="17242D"/>
                </a:solidFill>
                <a:latin typeface="+mj-lt"/>
              </a:rPr>
              <a:t>Таблица «</a:t>
            </a:r>
            <a:r>
              <a:rPr lang="ru-RU" sz="1800" dirty="0">
                <a:solidFill>
                  <a:srgbClr val="17242D"/>
                </a:solidFill>
                <a:latin typeface="+mj-lt"/>
              </a:rPr>
              <a:t>мебели</a:t>
            </a:r>
            <a:r>
              <a:rPr lang="en-US" sz="1800" dirty="0">
                <a:solidFill>
                  <a:srgbClr val="17242D"/>
                </a:solidFill>
                <a:latin typeface="+mj-lt"/>
              </a:rPr>
              <a:t>» - </a:t>
            </a:r>
            <a:r>
              <a:rPr lang="ru-RU" sz="1800" dirty="0">
                <a:solidFill>
                  <a:srgbClr val="17242D"/>
                </a:solidFill>
                <a:latin typeface="+mj-lt"/>
              </a:rPr>
              <a:t>хранит</a:t>
            </a:r>
            <a:r>
              <a:rPr lang="en-US" sz="1800" dirty="0">
                <a:solidFill>
                  <a:srgbClr val="17242D"/>
                </a:solidFill>
                <a:latin typeface="+mj-lt"/>
              </a:rPr>
              <a:t> информацию о </a:t>
            </a:r>
            <a:r>
              <a:rPr lang="ru-RU" dirty="0">
                <a:solidFill>
                  <a:srgbClr val="17242D"/>
                </a:solidFill>
                <a:latin typeface="+mj-lt"/>
              </a:rPr>
              <a:t>мебели: название, модель, количество, цена.</a:t>
            </a:r>
            <a:endParaRPr lang="en-US" sz="1800" dirty="0">
              <a:solidFill>
                <a:srgbClr val="17242D"/>
              </a:solidFill>
              <a:latin typeface="+mj-lt"/>
            </a:endParaRPr>
          </a:p>
          <a:p>
            <a:r>
              <a:rPr lang="ru-RU" dirty="0">
                <a:latin typeface="+mj-lt"/>
              </a:rPr>
              <a:t>Связь между «мебели» и «детали» создана в таблице «мебель-деталь», как и «мебель-производитель»</a:t>
            </a:r>
          </a:p>
          <a:p>
            <a:endParaRPr lang="ru-RU" dirty="0">
              <a:latin typeface="+mj-lt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8BF20B4-E63B-4D55-B80A-C20EE9881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69" y="4402191"/>
            <a:ext cx="11973261" cy="7130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2520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AFC3F3-A8C3-4ED9-A843-E454EEE6E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Форма </a:t>
            </a:r>
            <a:br>
              <a:rPr lang="ru-RU" dirty="0"/>
            </a:br>
            <a:r>
              <a:rPr lang="ru-RU" dirty="0"/>
              <a:t>заказа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A03433-DBF1-4ECB-BFCB-13310DBF8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733301" cy="3880773"/>
          </a:xfrm>
        </p:spPr>
        <p:txBody>
          <a:bodyPr/>
          <a:lstStyle/>
          <a:p>
            <a:r>
              <a:rPr lang="en-US" sz="1800" dirty="0">
                <a:solidFill>
                  <a:srgbClr val="17242D"/>
                </a:solidFill>
                <a:latin typeface="+mj-lt"/>
              </a:rPr>
              <a:t>Таблица «</a:t>
            </a:r>
            <a:r>
              <a:rPr lang="ru-RU" sz="1800" dirty="0">
                <a:solidFill>
                  <a:srgbClr val="17242D"/>
                </a:solidFill>
                <a:latin typeface="+mj-lt"/>
              </a:rPr>
              <a:t>заказы</a:t>
            </a:r>
            <a:r>
              <a:rPr lang="en-US" sz="1800" dirty="0">
                <a:solidFill>
                  <a:srgbClr val="17242D"/>
                </a:solidFill>
                <a:latin typeface="+mj-lt"/>
              </a:rPr>
              <a:t>» - </a:t>
            </a:r>
            <a:r>
              <a:rPr lang="ru-RU" sz="1800" dirty="0">
                <a:solidFill>
                  <a:srgbClr val="17242D"/>
                </a:solidFill>
                <a:latin typeface="+mj-lt"/>
              </a:rPr>
              <a:t>хранит</a:t>
            </a:r>
            <a:r>
              <a:rPr lang="en-US" sz="1800" dirty="0">
                <a:solidFill>
                  <a:srgbClr val="17242D"/>
                </a:solidFill>
                <a:latin typeface="+mj-lt"/>
              </a:rPr>
              <a:t> информацию о </a:t>
            </a:r>
            <a:r>
              <a:rPr lang="ru-RU" dirty="0">
                <a:solidFill>
                  <a:srgbClr val="17242D"/>
                </a:solidFill>
                <a:latin typeface="+mj-lt"/>
              </a:rPr>
              <a:t>купленных товарах пользователя: номер товара, номер компании, количество, цена.</a:t>
            </a:r>
            <a:endParaRPr lang="ru-RU" dirty="0">
              <a:latin typeface="+mj-l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541929A-FD75-4569-94D2-A08DED215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90" y="4389034"/>
            <a:ext cx="11984019" cy="4545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1767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AF1DF6-8D16-445C-924A-711F5ED00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ru-RU" dirty="0"/>
              <a:t>Перспективы 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E946CA-8797-4CE5-990F-F93479CE1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Добавление большего функционала, синхронизация и поиск через интернет.</a:t>
            </a:r>
          </a:p>
          <a:p>
            <a:r>
              <a:rPr lang="ru-RU" dirty="0"/>
              <a:t>Расширение функционала, настройки интерфейса </a:t>
            </a:r>
          </a:p>
          <a:p>
            <a:r>
              <a:rPr lang="ru-RU" dirty="0"/>
              <a:t>Оптимизация кода, редактирование базы данных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4107512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75</TotalTime>
  <Words>405</Words>
  <Application>Microsoft Office PowerPoint</Application>
  <PresentationFormat>Широкоэкранный</PresentationFormat>
  <Paragraphs>53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HK Grotesk Light</vt:lpstr>
      <vt:lpstr>HK Grotesk Light Bold</vt:lpstr>
      <vt:lpstr>Trebuchet MS</vt:lpstr>
      <vt:lpstr>Wingdings 3</vt:lpstr>
      <vt:lpstr>Аспект</vt:lpstr>
      <vt:lpstr>Разработка и создание программы для производства мебели</vt:lpstr>
      <vt:lpstr>О разработке</vt:lpstr>
      <vt:lpstr>Цели и задачи проекта</vt:lpstr>
      <vt:lpstr>Функциональные характеристики </vt:lpstr>
      <vt:lpstr>Используемые инструменты </vt:lpstr>
      <vt:lpstr>Главное окно программы </vt:lpstr>
      <vt:lpstr>Просмотр деталей </vt:lpstr>
      <vt:lpstr>Просмотр мебели </vt:lpstr>
      <vt:lpstr>Просмотр ассортимента </vt:lpstr>
      <vt:lpstr>Добавление элементов </vt:lpstr>
      <vt:lpstr>Форма  логина </vt:lpstr>
      <vt:lpstr>Форма  детали </vt:lpstr>
      <vt:lpstr>Форма  мебели </vt:lpstr>
      <vt:lpstr>Форма  заказа </vt:lpstr>
      <vt:lpstr>Перспективы разработки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 создание программы для производства мебели</dc:title>
  <dc:creator>Миша Кардашин</dc:creator>
  <cp:lastModifiedBy>Миша Кардашин</cp:lastModifiedBy>
  <cp:revision>1</cp:revision>
  <dcterms:created xsi:type="dcterms:W3CDTF">2025-12-14T22:20:55Z</dcterms:created>
  <dcterms:modified xsi:type="dcterms:W3CDTF">2025-12-14T23:36:42Z</dcterms:modified>
</cp:coreProperties>
</file>